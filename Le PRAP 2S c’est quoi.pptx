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7A66F-DE62-FA52-E71A-1772990D5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0BDABB-C53B-082A-2D2D-43629ADA4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50668A-84DE-1C7F-C60C-541EC402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F26AEC-1DA4-3DC1-203D-04D9DA70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37CF84-26F2-0E00-2723-D8B96298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61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63DCA-4182-E56C-54C1-9E7581A5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D6BC0C-A427-F3C2-D1AB-53B76454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8BA11-BFD9-0876-EBC0-D9993367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4DAEF8-95B5-510B-5A97-F978C069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989CC1-F370-66FD-0D10-E9DEF7D7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43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46405-F830-3A1E-8DD9-222A23CE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C16DB9-50C5-DB4D-D2CC-11EC6FAF5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BA10EA-B180-15FF-A370-89C96BC1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7DC1D8-2A03-F411-F29A-2E6DFD04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B27614-8669-A344-82E1-5BCEA3CB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210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91C38-78C6-4CCA-8F7D-9DDFF93B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C44D6D-9578-9249-E69B-7927EFF20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03FEE8-EDF2-8C1B-E18F-60B8C3E0C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9335D0-0C91-8200-5AB4-55CA57E2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F017E9-4FE8-5937-3FB6-453D965A0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83060A-E58F-8D00-2D36-222EBACD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62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8A4D8-9761-E067-08DB-6D53F4B9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24548B-93D5-DF48-956C-4C7B1586F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7594F4-ED91-34E7-CC1F-9C4546AF1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8E5509-7F7C-463C-C6E0-1D97D2424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04AB66-3A9D-CDE4-EA8F-5998A89CD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BC501F-204D-DE2E-6EF2-A5DBBFE2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4D86B4-B11A-8A4C-33B3-066A174E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8C01AF9-C97E-BD2C-108B-3FE51E8E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86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C26A0-437C-A02F-798A-E630A1FA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D85D5F-A424-9254-E7A2-4E539FC4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79ABCC-9CEF-A7A8-CF92-FEA3B42B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98B3B9-5F77-887F-BF9E-B32657F8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EC7A380-2B34-8770-8FF1-B2CA1CFA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DABBEE-2979-E153-86D1-EDBEB213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7402CA-28CE-8EE1-10B9-E5391A83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06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930638-E7C8-B965-BCE0-3ECF333A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11BF0-C579-85D1-2430-5F41033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407C49-CE70-5433-4636-849B2E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6E85F3-8660-F0B9-0CB0-8A96748D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4DB957-2A86-EF7B-0B4D-C954B09F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93F1FA-C25B-D490-E012-2FC2941C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04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01705-0F92-D1C3-65F6-6AB50A6C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40527-E81C-1820-7CC9-A0B25EAAF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1511C8-D95B-5E6A-651F-22C49541C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ADFB91-E290-163D-2EE2-86E47149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244266-6062-8C45-8107-A40CE788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183191-B1E8-97BE-436C-1D47841F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21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D281D1-04E1-C6AD-2C6D-4157B78B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4C62C6-84B7-B4D1-6612-A14C707CA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C375EC-0803-1D5A-45B5-0F9905A0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2C0D35-5929-E020-7F41-9C8EBD77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3F8B96-675D-F0CF-8685-7BF2C218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445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48A289A-B12D-D984-D2DC-019FDD905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059A0F-80C4-1996-A52F-52AD62DCE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3EC778-6FA4-6962-F011-244354D7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2043E-D731-AC27-1E60-41F50E5F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74FCAF-F92D-23C6-10A7-68CB7425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90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55BF054-ED07-281B-E433-2644484B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D59FB-961A-AFA2-F6C3-182D4FAB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0DC472-CD19-71C2-3496-A1C9FDED8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B85EA-94FD-4FAB-92E7-AAAD5F20C673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669985-493C-1338-7A0D-6A3056D3A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3EA16E-F8AE-05B7-DECF-BEA66932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5771E-7B1A-4AE7-AF4E-C3EF8BD44D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64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6E673-D2F1-3B1B-E92A-BF4FD0158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tabLst/>
              <a:defRPr/>
            </a:pPr>
            <a:r>
              <a:rPr kumimoji="0" lang="fr-FR" sz="4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Le PRAP 2S c’est quoi ?</a:t>
            </a:r>
            <a:br>
              <a:rPr kumimoji="0" lang="fr-FR" sz="4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</a:br>
            <a:r>
              <a:rPr kumimoji="0" lang="fr-FR" sz="4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		Qu’est-ce-que cela veut dire?</a:t>
            </a:r>
            <a:br>
              <a:rPr kumimoji="0" lang="fr-FR" sz="4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</a:br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618AA1-F225-A587-B9EC-EC075E323A13}"/>
              </a:ext>
            </a:extLst>
          </p:cNvPr>
          <p:cNvSpPr txBox="1"/>
          <p:nvPr/>
        </p:nvSpPr>
        <p:spPr>
          <a:xfrm>
            <a:off x="2261419" y="2831294"/>
            <a:ext cx="6882581" cy="358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Prévention des</a:t>
            </a: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fr-FR" sz="3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Risques liés à </a:t>
            </a: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fr-FR" sz="3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l’Activité</a:t>
            </a: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fr-FR" sz="3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Physique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3600" spc="-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Gestes et postures et principes d’économies d’</a:t>
            </a:r>
            <a:r>
              <a:rPr kumimoji="0" lang="fr-FR" sz="36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éfforts</a:t>
            </a:r>
            <a:r>
              <a:rPr lang="fr-FR" sz="3600" spc="-1" dirty="0">
                <a:solidFill>
                  <a:srgbClr val="000000"/>
                </a:solidFill>
                <a:latin typeface="Times New Roman"/>
              </a:rPr>
              <a:t>.</a:t>
            </a:r>
            <a:endParaRPr kumimoji="0" lang="fr-FR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204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E6369-081C-E8B5-4874-F2A86CC9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latin typeface="Times New Roman" pitchFamily="18" charset="0"/>
                <a:cs typeface="Times New Roman" pitchFamily="18" charset="0"/>
              </a:rPr>
              <a:t>ED7200</a:t>
            </a:r>
            <a:br>
              <a:rPr lang="fr-FR" dirty="0"/>
            </a:br>
            <a:endParaRPr lang="fr-FR" dirty="0"/>
          </a:p>
        </p:txBody>
      </p:sp>
      <p:pic>
        <p:nvPicPr>
          <p:cNvPr id="4" name="Espace réservé du contenu 3" descr="ED 7200.pdf (PROTEGE) - Adobe Reader">
            <a:extLst>
              <a:ext uri="{FF2B5EF4-FFF2-40B4-BE49-F238E27FC236}">
                <a16:creationId xmlns:a16="http://schemas.microsoft.com/office/drawing/2014/main" id="{EEB9368E-F52E-E0AE-8E59-985D7361B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23855" r="23627" b="13160"/>
          <a:stretch/>
        </p:blipFill>
        <p:spPr>
          <a:xfrm>
            <a:off x="1419221" y="1825625"/>
            <a:ext cx="93535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8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2810F-F835-1CEA-A396-DC71A37F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fr-FR" sz="6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</a:rPr>
              <a:t>Comme le stipule l’ED7200</a:t>
            </a:r>
            <a:br>
              <a:rPr kumimoji="0" lang="fr-FR" sz="6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A4E1DC-03F3-EDD1-421B-0DFA2C6BB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spc="-1" dirty="0">
                <a:solidFill>
                  <a:srgbClr val="000000"/>
                </a:solidFill>
              </a:rPr>
              <a:t>L’Obligation des cadres et salariés de participer à la prévention des risques de l’Etablissement </a:t>
            </a:r>
            <a:endParaRPr lang="fr-FR" spc="-1" dirty="0">
              <a:latin typeface="Arial"/>
            </a:endParaRPr>
          </a:p>
          <a:p>
            <a:r>
              <a:rPr lang="fr-FR" spc="-1" dirty="0">
                <a:solidFill>
                  <a:srgbClr val="000000"/>
                </a:solidFill>
                <a:latin typeface="Calibri Light"/>
              </a:rPr>
              <a:t>Ces 3 compétences </a:t>
            </a:r>
            <a:br>
              <a:rPr lang="fr-FR" dirty="0"/>
            </a:br>
            <a:r>
              <a:rPr lang="fr-FR" spc="-1" dirty="0">
                <a:solidFill>
                  <a:srgbClr val="000000"/>
                </a:solidFill>
                <a:latin typeface="Calibri Light"/>
              </a:rPr>
              <a:t>nous allons les développer ensemble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-1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/>
              </a:rPr>
              <a:t>1- connaître les risques de votre métier  :</a:t>
            </a:r>
            <a:endParaRPr kumimoji="0" lang="fr-FR" sz="20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Repérer les situations susceptibles de nuire à votre santé</a:t>
            </a: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Avoir conscience des enjeux pour l’entreprise </a:t>
            </a: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-1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/>
              </a:rPr>
              <a:t>2- Observer et analyser votre situation de travail :</a:t>
            </a:r>
            <a:endParaRPr kumimoji="0" lang="fr-FR" sz="20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Identifier les différentes atteintes à la santé </a:t>
            </a: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-1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/>
              </a:rPr>
              <a:t>3- participer à la maîtrise du risque  : </a:t>
            </a:r>
            <a:endParaRPr kumimoji="0" lang="fr-FR" sz="20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Apporter des idées d’amélioration </a:t>
            </a:r>
            <a:endParaRPr kumimoji="0" lang="fr-F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955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255D1E-1E69-FEBB-9E05-20D25C22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B4BA5C-BC36-E376-94AD-130D5826A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</a:rPr>
              <a:t>C’est vous salariés qui êtes le mieux placés pour parler de votre travail,</a:t>
            </a:r>
            <a:b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fr-FR" sz="4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</a:rPr>
              <a:t>des disfonctionnements et des améliorations possibles  </a:t>
            </a:r>
            <a:endParaRPr kumimoji="0" lang="fr-FR" sz="4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r>
              <a:rPr lang="fr-FR" spc="-1" dirty="0">
                <a:solidFill>
                  <a:srgbClr val="000000"/>
                </a:solidFill>
                <a:latin typeface="Calibri Light"/>
              </a:rPr>
              <a:t>80 % des maladies professionnelles sont liées à des activités physiques au travail </a:t>
            </a:r>
            <a:endParaRPr lang="fr-FR" spc="-1" dirty="0">
              <a:solidFill>
                <a:srgbClr val="000000"/>
              </a:solidFill>
            </a:endParaRPr>
          </a:p>
          <a:p>
            <a:r>
              <a:rPr lang="fr-FR" spc="-1" dirty="0">
                <a:solidFill>
                  <a:srgbClr val="000000"/>
                </a:solidFill>
              </a:rPr>
              <a:t>Accident survenu à cause du travail 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fr-FR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Maladie reconnue si elle apparait sur le tableau des risques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78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A8C7D-3CC3-F9A6-6D4F-334B0D8C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spc="-1" dirty="0">
                <a:solidFill>
                  <a:srgbClr val="203864"/>
                </a:solidFill>
              </a:rPr>
              <a:t>Un coût direct « important »</a:t>
            </a:r>
            <a:br>
              <a:rPr lang="fr-FR" dirty="0"/>
            </a:br>
            <a:r>
              <a:rPr lang="fr-FR" b="1" spc="-1" dirty="0">
                <a:solidFill>
                  <a:srgbClr val="203864"/>
                </a:solidFill>
              </a:rPr>
              <a:t>pour l’employeur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308C1C-4064-786E-EE53-313262DCB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i="1" spc="-1" dirty="0">
                <a:solidFill>
                  <a:srgbClr val="7C7C7C"/>
                </a:solidFill>
              </a:rPr>
              <a:t>Salaires et frais médicaux </a:t>
            </a:r>
            <a:endParaRPr lang="fr-FR" spc="-1" dirty="0">
              <a:latin typeface="Arial"/>
            </a:endParaRPr>
          </a:p>
          <a:p>
            <a:r>
              <a:rPr lang="fr-FR" spc="-1" dirty="0">
                <a:solidFill>
                  <a:srgbClr val="000000"/>
                </a:solidFill>
              </a:rPr>
              <a:t>Le coût moyen brut pour une entreprise d’un arrêt de travail est de  </a:t>
            </a:r>
            <a:endParaRPr lang="fr-FR" spc="-1" dirty="0">
              <a:latin typeface="Arial"/>
            </a:endParaRPr>
          </a:p>
          <a:p>
            <a:r>
              <a:rPr lang="fr-FR" b="1" spc="-1" dirty="0">
                <a:solidFill>
                  <a:srgbClr val="000000"/>
                </a:solidFill>
              </a:rPr>
              <a:t>2 931 euros </a:t>
            </a: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b="1" spc="-1" dirty="0">
                <a:solidFill>
                  <a:srgbClr val="203864"/>
                </a:solidFill>
                <a:latin typeface="Calibri Light"/>
              </a:rPr>
              <a:t>Un coût indirect « conséquent »</a:t>
            </a:r>
            <a:br>
              <a:rPr lang="fr-FR" dirty="0"/>
            </a:br>
            <a:r>
              <a:rPr lang="fr-FR" spc="-1" dirty="0">
                <a:solidFill>
                  <a:srgbClr val="000000"/>
                </a:solidFill>
              </a:rPr>
              <a:t>Lié aux remplacements,</a:t>
            </a: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pc="-1" dirty="0">
                <a:solidFill>
                  <a:srgbClr val="000000"/>
                </a:solidFill>
              </a:rPr>
              <a:t>Lié à la perte de productivité,</a:t>
            </a: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pc="-1" dirty="0">
                <a:solidFill>
                  <a:srgbClr val="000000"/>
                </a:solidFill>
              </a:rPr>
              <a:t>Lié aux cotisations   </a:t>
            </a:r>
            <a:endParaRPr lang="fr-FR" spc="-1" dirty="0">
              <a:latin typeface="Arial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991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A3FE1-454D-8DE0-1274-EED4B47A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pc="-1" dirty="0">
                <a:solidFill>
                  <a:srgbClr val="000000"/>
                </a:solidFill>
              </a:rPr>
              <a:t>LES ENJEUX…</a:t>
            </a:r>
            <a:br>
              <a:rPr lang="fr-FR" dirty="0"/>
            </a:br>
            <a:r>
              <a:rPr lang="fr-FR" spc="-1" dirty="0">
                <a:solidFill>
                  <a:srgbClr val="000000"/>
                </a:solidFill>
              </a:rPr>
              <a:t>Humains</a:t>
            </a:r>
            <a:br>
              <a:rPr lang="fr-FR" spc="-1" dirty="0">
                <a:solidFill>
                  <a:srgbClr val="000000"/>
                </a:solidFill>
                <a:latin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4728B-FD54-D3AC-C652-2B72F401B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pc="-1" dirty="0">
                <a:solidFill>
                  <a:srgbClr val="000000"/>
                </a:solidFill>
              </a:rPr>
              <a:t>Amélioration de la qualité de vie au travail</a:t>
            </a:r>
          </a:p>
          <a:p>
            <a:pPr>
              <a:spcBef>
                <a:spcPts val="1001"/>
              </a:spcBef>
            </a:pPr>
            <a:r>
              <a:rPr lang="fr-FR" spc="-1" dirty="0">
                <a:solidFill>
                  <a:srgbClr val="000000"/>
                </a:solidFill>
              </a:rPr>
              <a:t> </a:t>
            </a:r>
          </a:p>
          <a:p>
            <a:pPr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pc="-1" dirty="0">
                <a:solidFill>
                  <a:srgbClr val="000000"/>
                </a:solidFill>
              </a:rPr>
              <a:t>Amélioration de la prise en charge des bénéficiaires avec un impact sur la qualité des soins</a:t>
            </a:r>
          </a:p>
          <a:p>
            <a:pPr>
              <a:spcBef>
                <a:spcPts val="1001"/>
              </a:spcBef>
            </a:pPr>
            <a:r>
              <a:rPr lang="fr-FR" spc="-1" dirty="0">
                <a:solidFill>
                  <a:srgbClr val="000000"/>
                </a:solidFill>
              </a:rPr>
              <a:t> </a:t>
            </a:r>
          </a:p>
          <a:p>
            <a:pPr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pc="-1" dirty="0">
                <a:solidFill>
                  <a:srgbClr val="000000"/>
                </a:solidFill>
              </a:rPr>
              <a:t>La valorisation des compétences des professionnels grâce à la certification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22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BC4B3-B9D5-D705-8145-23BF8756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pc="-1" dirty="0">
                <a:solidFill>
                  <a:srgbClr val="000000"/>
                </a:solidFill>
              </a:rPr>
              <a:t>LES ENJEUX…</a:t>
            </a:r>
            <a:br>
              <a:rPr lang="fr-FR" dirty="0"/>
            </a:br>
            <a:r>
              <a:rPr lang="fr-FR" spc="-1" dirty="0">
                <a:solidFill>
                  <a:srgbClr val="000000"/>
                </a:solidFill>
              </a:rPr>
              <a:t>Financiers </a:t>
            </a:r>
            <a:br>
              <a:rPr lang="fr-FR" spc="-1" dirty="0">
                <a:solidFill>
                  <a:srgbClr val="000000"/>
                </a:solidFill>
                <a:latin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27ED66-6081-AD9A-3CF6-EBA48A731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pc="-1" dirty="0">
                <a:solidFill>
                  <a:srgbClr val="000000"/>
                </a:solidFill>
              </a:rPr>
              <a:t>Diminution des Accidents de travail et des maladies professionnelles </a:t>
            </a:r>
          </a:p>
          <a:p>
            <a:r>
              <a:rPr lang="fr-FR" spc="-1" dirty="0">
                <a:solidFill>
                  <a:srgbClr val="000000"/>
                </a:solidFill>
              </a:rPr>
              <a:t>Un AT est payé sur 3 ans </a:t>
            </a:r>
            <a:endParaRPr lang="fr-FR" spc="-1" dirty="0">
              <a:latin typeface="Arial"/>
            </a:endParaRP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D92F0D-7DB8-8FA8-8405-EB42AD67B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42" y="2999115"/>
            <a:ext cx="4359018" cy="26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9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BA646-7601-1C7B-9C38-AB757582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pc="-1" dirty="0">
                <a:solidFill>
                  <a:srgbClr val="000000"/>
                </a:solidFill>
              </a:rPr>
              <a:t>LES ENJEUX…</a:t>
            </a:r>
            <a:br>
              <a:rPr lang="fr-FR" dirty="0"/>
            </a:br>
            <a:r>
              <a:rPr lang="fr-FR" spc="-1" dirty="0">
                <a:solidFill>
                  <a:srgbClr val="000000"/>
                </a:solidFill>
              </a:rPr>
              <a:t>Sociétaux </a:t>
            </a:r>
            <a:br>
              <a:rPr lang="fr-FR" spc="-1" dirty="0">
                <a:solidFill>
                  <a:srgbClr val="000000"/>
                </a:solidFill>
                <a:latin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982490-1AFA-121F-B28C-57D24C52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pc="-1" dirty="0">
                <a:solidFill>
                  <a:srgbClr val="000000"/>
                </a:solidFill>
              </a:rPr>
              <a:t>Qualité des services de l’entreprise </a:t>
            </a:r>
            <a:endParaRPr lang="fr-FR" spc="-1" dirty="0">
              <a:latin typeface="Arial"/>
            </a:endParaRPr>
          </a:p>
          <a:p>
            <a:r>
              <a:rPr lang="fr-FR" spc="-1" dirty="0">
                <a:solidFill>
                  <a:srgbClr val="000000"/>
                </a:solidFill>
              </a:rPr>
              <a:t>Bien être du salarié </a:t>
            </a:r>
            <a:endParaRPr lang="fr-FR" spc="-1" dirty="0">
              <a:latin typeface="Arial"/>
            </a:endParaRPr>
          </a:p>
          <a:p>
            <a:r>
              <a:rPr lang="fr-FR" spc="-1" dirty="0">
                <a:solidFill>
                  <a:srgbClr val="000000"/>
                </a:solidFill>
              </a:rPr>
              <a:t>L’image de l’entreprise </a:t>
            </a:r>
            <a:endParaRPr lang="fr-FR" spc="-1" dirty="0">
              <a:latin typeface="Arial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299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94C9E-40E4-ECEA-6BF5-90F5B1F5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pc="-1" dirty="0">
                <a:solidFill>
                  <a:srgbClr val="000000"/>
                </a:solidFill>
              </a:rPr>
              <a:t> </a:t>
            </a:r>
            <a:r>
              <a:rPr lang="fr-FR" b="1" spc="-1" dirty="0">
                <a:solidFill>
                  <a:srgbClr val="7030A0"/>
                </a:solidFill>
              </a:rPr>
              <a:t>Echauffement articulaire et musculaire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9ACB4-C235-060A-51E7-F4C45FE0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240">
              <a:spcBef>
                <a:spcPts val="1001"/>
              </a:spcBef>
            </a:pPr>
            <a:r>
              <a:rPr lang="fr-FR" spc="-1" dirty="0">
                <a:solidFill>
                  <a:srgbClr val="FF0000"/>
                </a:solidFill>
              </a:rPr>
              <a:t> 1. Evaluer la charge</a:t>
            </a:r>
            <a:endParaRPr lang="fr-FR" spc="-1" dirty="0">
              <a:solidFill>
                <a:srgbClr val="000000"/>
              </a:solidFill>
            </a:endParaRPr>
          </a:p>
          <a:p>
            <a:pPr indent="-228240">
              <a:spcBef>
                <a:spcPts val="1001"/>
              </a:spcBef>
            </a:pPr>
            <a:r>
              <a:rPr lang="fr-FR" spc="-1" dirty="0">
                <a:solidFill>
                  <a:srgbClr val="0070C0"/>
                </a:solidFill>
              </a:rPr>
              <a:t>   2. Avoir le dos droit</a:t>
            </a:r>
            <a:endParaRPr lang="fr-FR" spc="-1" dirty="0">
              <a:solidFill>
                <a:srgbClr val="000000"/>
              </a:solidFill>
            </a:endParaRPr>
          </a:p>
          <a:p>
            <a:pPr indent="-228240">
              <a:spcBef>
                <a:spcPts val="1001"/>
              </a:spcBef>
            </a:pPr>
            <a:r>
              <a:rPr lang="fr-FR" spc="-1" dirty="0">
                <a:solidFill>
                  <a:srgbClr val="000000"/>
                </a:solidFill>
              </a:rPr>
              <a:t>   </a:t>
            </a:r>
            <a:r>
              <a:rPr lang="fr-FR" spc="-1" dirty="0">
                <a:solidFill>
                  <a:srgbClr val="00B050"/>
                </a:solidFill>
              </a:rPr>
              <a:t>3. Fusionner les centres de gravité (CG)</a:t>
            </a:r>
            <a:endParaRPr lang="fr-FR" spc="-1" dirty="0">
              <a:solidFill>
                <a:srgbClr val="000000"/>
              </a:solidFill>
            </a:endParaRPr>
          </a:p>
          <a:p>
            <a:pPr indent="-228240">
              <a:spcBef>
                <a:spcPts val="1001"/>
              </a:spcBef>
            </a:pPr>
            <a:r>
              <a:rPr lang="fr-FR" spc="-1" dirty="0">
                <a:solidFill>
                  <a:srgbClr val="7030A0"/>
                </a:solidFill>
              </a:rPr>
              <a:t>   4. Plier les jambes</a:t>
            </a:r>
            <a:endParaRPr lang="fr-FR" spc="-1" dirty="0">
              <a:solidFill>
                <a:srgbClr val="000000"/>
              </a:solidFill>
            </a:endParaRPr>
          </a:p>
          <a:p>
            <a:pPr indent="-228240">
              <a:spcBef>
                <a:spcPts val="1001"/>
              </a:spcBef>
            </a:pPr>
            <a:r>
              <a:rPr lang="fr-FR" spc="-1" dirty="0">
                <a:solidFill>
                  <a:srgbClr val="000000"/>
                </a:solidFill>
              </a:rPr>
              <a:t>   5. Regarder l’endroit où l’on va mettre la charge</a:t>
            </a:r>
          </a:p>
          <a:p>
            <a:pPr indent="-228240">
              <a:spcBef>
                <a:spcPts val="1001"/>
              </a:spcBef>
            </a:pPr>
            <a:endParaRPr lang="fr-FR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03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D8407-F824-B49D-2EF8-DDB27183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66EAC-ABE4-6FFA-D7C7-CFFFADECE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8249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343</Words>
  <Application>Microsoft Office PowerPoint</Application>
  <PresentationFormat>Grand écran</PresentationFormat>
  <Paragraphs>47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Thème Office</vt:lpstr>
      <vt:lpstr>Le PRAP 2S c’est quoi ?   Qu’est-ce-que cela veut dire? </vt:lpstr>
      <vt:lpstr>ED7200 </vt:lpstr>
      <vt:lpstr>Comme le stipule l’ED7200 </vt:lpstr>
      <vt:lpstr>Présentation PowerPoint</vt:lpstr>
      <vt:lpstr>Un coût direct « important » pour l’employeur</vt:lpstr>
      <vt:lpstr>LES ENJEUX… Humains </vt:lpstr>
      <vt:lpstr>LES ENJEUX… Financiers  </vt:lpstr>
      <vt:lpstr>LES ENJEUX… Sociétaux  </vt:lpstr>
      <vt:lpstr> Echauffement articulaire et musculaire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 dan</dc:creator>
  <cp:lastModifiedBy>serge dan</cp:lastModifiedBy>
  <cp:revision>1</cp:revision>
  <dcterms:created xsi:type="dcterms:W3CDTF">2025-11-15T20:52:10Z</dcterms:created>
  <dcterms:modified xsi:type="dcterms:W3CDTF">2025-11-15T21:08:12Z</dcterms:modified>
</cp:coreProperties>
</file>